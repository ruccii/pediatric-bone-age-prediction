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5" r:id="rId5"/>
    <p:sldId id="342" r:id="rId6"/>
    <p:sldId id="257" r:id="rId7"/>
    <p:sldId id="261" r:id="rId8"/>
    <p:sldId id="341" r:id="rId9"/>
    <p:sldId id="267" r:id="rId10"/>
    <p:sldId id="263" r:id="rId11"/>
    <p:sldId id="343" r:id="rId12"/>
    <p:sldId id="265" r:id="rId13"/>
    <p:sldId id="34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>
        <p:scale>
          <a:sx n="58" d="100"/>
          <a:sy n="58" d="100"/>
        </p:scale>
        <p:origin x="988" y="6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2251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Pediatric Bone Age Prediction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89948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000" dirty="0"/>
              <a:t>Presentation By: Ruchi Rathod</a:t>
            </a:r>
            <a:br>
              <a:rPr lang="en-US" sz="2000" dirty="0"/>
            </a:br>
            <a:r>
              <a:rPr lang="en-US" sz="2000" dirty="0"/>
              <a:t>Student ID: 24801180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23791-B91E-6204-759F-EDF4FD294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29D6A-169A-9B5D-F966-39420617A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62" y="878259"/>
            <a:ext cx="4114800" cy="557349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57458-B7A2-67DE-8398-277FA4B93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077" y="1654629"/>
            <a:ext cx="5896605" cy="4563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Traditional bone age assessment methods</a:t>
            </a:r>
          </a:p>
          <a:p>
            <a:r>
              <a:rPr lang="en-US" sz="1800" dirty="0"/>
              <a:t>Greulich-Pyle (G&amp;P)</a:t>
            </a:r>
            <a:r>
              <a:rPr lang="en-US" sz="1800" b="1" dirty="0"/>
              <a:t>:</a:t>
            </a:r>
            <a:r>
              <a:rPr lang="en-US" sz="1800" dirty="0"/>
              <a:t> Compare X-ray to reference atlas images.</a:t>
            </a:r>
          </a:p>
          <a:p>
            <a:r>
              <a:rPr lang="en-US" sz="1800" dirty="0"/>
              <a:t>Tanner-Whitehouse (TW): Score development of specific bones.</a:t>
            </a:r>
          </a:p>
          <a:p>
            <a:r>
              <a:rPr lang="en-US" sz="1800" dirty="0"/>
              <a:t>Limitations: Time-consuming and prone to variability between and within observers.</a:t>
            </a:r>
          </a:p>
          <a:p>
            <a:pPr marL="0" indent="0">
              <a:buNone/>
            </a:pPr>
            <a:r>
              <a:rPr lang="en-US" sz="1800" dirty="0"/>
              <a:t>Need for automation</a:t>
            </a:r>
          </a:p>
          <a:p>
            <a:r>
              <a:rPr lang="en-US" sz="1800" dirty="0"/>
              <a:t>Machine learning &amp; deep learning techniques are faster, consistent and Scalable.</a:t>
            </a:r>
          </a:p>
        </p:txBody>
      </p:sp>
      <p:pic>
        <p:nvPicPr>
          <p:cNvPr id="6" name="Picture Placeholder 5" descr="X-ray of a hand&#10;&#10;AI-generated content may be incorrect.">
            <a:extLst>
              <a:ext uri="{FF2B5EF4-FFF2-40B4-BE49-F238E27FC236}">
                <a16:creationId xmlns:a16="http://schemas.microsoft.com/office/drawing/2014/main" id="{EB09FF09-F69C-E595-8D15-EB87E57943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228" b="5228"/>
          <a:stretch/>
        </p:blipFill>
        <p:spPr>
          <a:xfrm>
            <a:off x="6797042" y="1435608"/>
            <a:ext cx="4787768" cy="3977640"/>
          </a:xfr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C739CB-383C-3CA7-B857-5C1A45E8A850}"/>
              </a:ext>
            </a:extLst>
          </p:cNvPr>
          <p:cNvSpPr txBox="1"/>
          <p:nvPr/>
        </p:nvSpPr>
        <p:spPr>
          <a:xfrm>
            <a:off x="8206450" y="5571589"/>
            <a:ext cx="229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(Li et al., 2023)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173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964580"/>
            <a:ext cx="10241280" cy="1148508"/>
          </a:xfrm>
          <a:noFill/>
        </p:spPr>
        <p:txBody>
          <a:bodyPr anchor="b" anchorCtr="0"/>
          <a:lstStyle/>
          <a:p>
            <a:r>
              <a:rPr lang="en-IN" dirty="0"/>
              <a:t>Aim &amp; Objectives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2375210"/>
            <a:ext cx="8046720" cy="3166274"/>
          </a:xfrm>
          <a:noFill/>
        </p:spPr>
        <p:txBody>
          <a:bodyPr>
            <a:normAutofit fontScale="25000" lnSpcReduction="20000"/>
          </a:bodyPr>
          <a:lstStyle/>
          <a:p>
            <a:pPr algn="l"/>
            <a:r>
              <a:rPr lang="en-US" sz="7200" dirty="0"/>
              <a:t>Aim:</a:t>
            </a:r>
            <a:br>
              <a:rPr lang="en-US" sz="7200" dirty="0"/>
            </a:br>
            <a:r>
              <a:rPr lang="en-US" sz="7200" dirty="0"/>
              <a:t>Automate pediatric bone age prediction from hand X-rays using a Deep learning system with a user-friendly interface.</a:t>
            </a:r>
          </a:p>
          <a:p>
            <a:pPr algn="l"/>
            <a:r>
              <a:rPr lang="en-US" sz="7200" dirty="0"/>
              <a:t>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7200" dirty="0"/>
              <a:t>Dataset: Utilize the RSNA Pediatric Bone Age dataset and implement robust preprocessing for high-quality input.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7200" dirty="0"/>
              <a:t>Model: Develop and optimize deep learning models (CNNs with attention mechanisms) for accurate bone age prediction.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7200" dirty="0"/>
              <a:t>Deployment: Create a user-friendly interface for real-time prediction, visualization, and report generation.</a:t>
            </a:r>
          </a:p>
          <a:p>
            <a:pPr algn="l"/>
            <a:endParaRPr lang="en-IN" dirty="0"/>
          </a:p>
          <a:p>
            <a:r>
              <a:rPr lang="en-IN" dirty="0"/>
              <a:t> </a:t>
            </a:r>
            <a:br>
              <a:rPr lang="en-IN" dirty="0"/>
            </a:b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0E6EBE1-CEA4-3B5D-1FCD-4DF45E965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research question.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761" y="644434"/>
            <a:ext cx="5029200" cy="740441"/>
          </a:xfrm>
        </p:spPr>
        <p:txBody>
          <a:bodyPr anchor="b">
            <a:norm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29435" y="1101740"/>
            <a:ext cx="4306824" cy="539496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Data – RSNA Pediatric Bone Age Challenge 2017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14,236 hand &amp; wrist X-rays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1–228 months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54% Male, 46% Female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r>
              <a:rPr lang="en-IN" sz="1600" dirty="0"/>
              <a:t>Preprocessing &amp; Augmentation</a:t>
            </a:r>
          </a:p>
          <a:p>
            <a:pPr marL="0" indent="0">
              <a:buNone/>
            </a:pPr>
            <a:r>
              <a:rPr lang="en-IN" sz="1600" dirty="0"/>
              <a:t>	Contrast enhancement: CLAHE, 	Histogram Equalization</a:t>
            </a:r>
          </a:p>
          <a:p>
            <a:pPr marL="0" indent="0">
              <a:buNone/>
            </a:pPr>
            <a:r>
              <a:rPr lang="en-IN" sz="1600" dirty="0"/>
              <a:t>	Noise reduction: Bilateral Filtering</a:t>
            </a:r>
          </a:p>
          <a:p>
            <a:pPr marL="0" indent="0">
              <a:buNone/>
            </a:pPr>
            <a:r>
              <a:rPr lang="en-IN" sz="1600" dirty="0"/>
              <a:t>	Standardization: Resizing &amp; 	Normalization</a:t>
            </a:r>
          </a:p>
          <a:p>
            <a:pPr marL="0" indent="0">
              <a:buNone/>
            </a:pPr>
            <a:r>
              <a:rPr lang="en-IN" sz="1600" dirty="0"/>
              <a:t>	Variability techniques: Horizontal 	flipping, small rotations (±10°), zoom 	&amp; random cropping, rescaling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endParaRPr lang="en-IN" sz="1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05C947-BB18-1557-F8FD-75A17D3D9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584" y="1542821"/>
            <a:ext cx="3951953" cy="14227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D0E579F-1A91-1D2F-8920-8542AEB3D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218" y="3036385"/>
            <a:ext cx="4152686" cy="262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89E83-9353-FF1E-475C-11F2A85F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A486-E254-B538-1C2E-176751A22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103" y="1097280"/>
            <a:ext cx="2190153" cy="511183"/>
          </a:xfrm>
        </p:spPr>
        <p:txBody>
          <a:bodyPr anchor="t">
            <a:normAutofit/>
          </a:bodyPr>
          <a:lstStyle/>
          <a:p>
            <a:r>
              <a:rPr lang="en-US" dirty="0"/>
              <a:t>Method </a:t>
            </a:r>
          </a:p>
        </p:txBody>
      </p:sp>
      <p:pic>
        <p:nvPicPr>
          <p:cNvPr id="7" name="Picture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C12EB4A-C3A6-1450-A312-04C50BCE02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23090" y="2863443"/>
            <a:ext cx="9298237" cy="3603066"/>
          </a:xfr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BDF547-A511-7F45-7CB0-A2B72DEA46BC}"/>
              </a:ext>
            </a:extLst>
          </p:cNvPr>
          <p:cNvSpPr txBox="1"/>
          <p:nvPr/>
        </p:nvSpPr>
        <p:spPr>
          <a:xfrm>
            <a:off x="1723090" y="1608463"/>
            <a:ext cx="5960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Developed a deep learning workflow that included data preparation, augmentation, and model optimization, and deployed it through an interactive interface for automated bone age prediction.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267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054" y="189009"/>
            <a:ext cx="2203820" cy="488452"/>
          </a:xfrm>
          <a:noFill/>
        </p:spPr>
        <p:txBody>
          <a:bodyPr anchor="t" anchorCtr="0"/>
          <a:lstStyle/>
          <a:p>
            <a:r>
              <a:rPr lang="en-US" dirty="0"/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Placeholder 6">
                <a:extLst>
                  <a:ext uri="{FF2B5EF4-FFF2-40B4-BE49-F238E27FC236}">
                    <a16:creationId xmlns:a16="http://schemas.microsoft.com/office/drawing/2014/main" id="{413A8F43-35AE-9566-0A36-CBAA692477A4}"/>
                  </a:ext>
                </a:extLst>
              </p:cNvPr>
              <p:cNvGraphicFramePr>
                <a:graphicFrameLocks noGrp="1"/>
              </p:cNvGraphicFramePr>
              <p:nvPr>
                <p:ph type="tbl" sz="quarter" idx="13"/>
                <p:extLst>
                  <p:ext uri="{D42A27DB-BD31-4B8C-83A1-F6EECF244321}">
                    <p14:modId xmlns:p14="http://schemas.microsoft.com/office/powerpoint/2010/main" val="3614736903"/>
                  </p:ext>
                </p:extLst>
              </p:nvPr>
            </p:nvGraphicFramePr>
            <p:xfrm>
              <a:off x="1129054" y="3603323"/>
              <a:ext cx="9620250" cy="28651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285478">
                      <a:extLst>
                        <a:ext uri="{9D8B030D-6E8A-4147-A177-3AD203B41FA5}">
                          <a16:colId xmlns:a16="http://schemas.microsoft.com/office/drawing/2014/main" val="3077405092"/>
                        </a:ext>
                      </a:extLst>
                    </a:gridCol>
                    <a:gridCol w="1562622">
                      <a:extLst>
                        <a:ext uri="{9D8B030D-6E8A-4147-A177-3AD203B41FA5}">
                          <a16:colId xmlns:a16="http://schemas.microsoft.com/office/drawing/2014/main" val="228841726"/>
                        </a:ext>
                      </a:extLst>
                    </a:gridCol>
                    <a:gridCol w="1924050">
                      <a:extLst>
                        <a:ext uri="{9D8B030D-6E8A-4147-A177-3AD203B41FA5}">
                          <a16:colId xmlns:a16="http://schemas.microsoft.com/office/drawing/2014/main" val="2768546857"/>
                        </a:ext>
                      </a:extLst>
                    </a:gridCol>
                    <a:gridCol w="1924050">
                      <a:extLst>
                        <a:ext uri="{9D8B030D-6E8A-4147-A177-3AD203B41FA5}">
                          <a16:colId xmlns:a16="http://schemas.microsoft.com/office/drawing/2014/main" val="2980333376"/>
                        </a:ext>
                      </a:extLst>
                    </a:gridCol>
                    <a:gridCol w="1924050">
                      <a:extLst>
                        <a:ext uri="{9D8B030D-6E8A-4147-A177-3AD203B41FA5}">
                          <a16:colId xmlns:a16="http://schemas.microsoft.com/office/drawing/2014/main" val="37013596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Model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MAE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Within ±6 months (%)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Within ±12 months (%)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2564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u="none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ResNet50</a:t>
                          </a:r>
                          <a:endParaRPr lang="en-IN" sz="1800" u="none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u="sng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7.05</a:t>
                          </a:r>
                          <a:endParaRPr lang="en-IN" sz="1800" u="sng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u="sng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</a:t>
                          </a:r>
                          <a:endParaRPr lang="en-IN" sz="1800" u="sng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u="sng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54.24</a:t>
                          </a:r>
                          <a:endParaRPr lang="en-IN" sz="1800" u="sng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u="sng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81.12</a:t>
                          </a:r>
                          <a:endParaRPr lang="en-IN" sz="1800" u="sng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062341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DenseNet121    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7.18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50.72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83.52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9430173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AlexNet 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31.4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12.96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19.36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40735302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MobileNetV2 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9.23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38.72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71.84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427547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ResNet50 + Attention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7.23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0.941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50.9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81.1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30200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DenseNet121 + Attention    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0.942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53.1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82.4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8645683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Placeholder 6">
                <a:extLst>
                  <a:ext uri="{FF2B5EF4-FFF2-40B4-BE49-F238E27FC236}">
                    <a16:creationId xmlns:a16="http://schemas.microsoft.com/office/drawing/2014/main" id="{413A8F43-35AE-9566-0A36-CBAA692477A4}"/>
                  </a:ext>
                </a:extLst>
              </p:cNvPr>
              <p:cNvGraphicFramePr>
                <a:graphicFrameLocks noGrp="1"/>
              </p:cNvGraphicFramePr>
              <p:nvPr>
                <p:ph type="tbl" sz="quarter" idx="13"/>
                <p:extLst>
                  <p:ext uri="{D42A27DB-BD31-4B8C-83A1-F6EECF244321}">
                    <p14:modId xmlns:p14="http://schemas.microsoft.com/office/powerpoint/2010/main" val="3614736903"/>
                  </p:ext>
                </p:extLst>
              </p:nvPr>
            </p:nvGraphicFramePr>
            <p:xfrm>
              <a:off x="1129054" y="3603323"/>
              <a:ext cx="9620250" cy="28651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285478">
                      <a:extLst>
                        <a:ext uri="{9D8B030D-6E8A-4147-A177-3AD203B41FA5}">
                          <a16:colId xmlns:a16="http://schemas.microsoft.com/office/drawing/2014/main" val="3077405092"/>
                        </a:ext>
                      </a:extLst>
                    </a:gridCol>
                    <a:gridCol w="1562622">
                      <a:extLst>
                        <a:ext uri="{9D8B030D-6E8A-4147-A177-3AD203B41FA5}">
                          <a16:colId xmlns:a16="http://schemas.microsoft.com/office/drawing/2014/main" val="228841726"/>
                        </a:ext>
                      </a:extLst>
                    </a:gridCol>
                    <a:gridCol w="1924050">
                      <a:extLst>
                        <a:ext uri="{9D8B030D-6E8A-4147-A177-3AD203B41FA5}">
                          <a16:colId xmlns:a16="http://schemas.microsoft.com/office/drawing/2014/main" val="2768546857"/>
                        </a:ext>
                      </a:extLst>
                    </a:gridCol>
                    <a:gridCol w="1924050">
                      <a:extLst>
                        <a:ext uri="{9D8B030D-6E8A-4147-A177-3AD203B41FA5}">
                          <a16:colId xmlns:a16="http://schemas.microsoft.com/office/drawing/2014/main" val="2980333376"/>
                        </a:ext>
                      </a:extLst>
                    </a:gridCol>
                    <a:gridCol w="1924050">
                      <a:extLst>
                        <a:ext uri="{9D8B030D-6E8A-4147-A177-3AD203B41FA5}">
                          <a16:colId xmlns:a16="http://schemas.microsoft.com/office/drawing/2014/main" val="370135967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Model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MAE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52" t="-4762" r="-201587" b="-37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Within ±6 months (%)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Within ±12 months (%)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2564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u="none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ResNet50</a:t>
                          </a:r>
                          <a:endParaRPr lang="en-IN" sz="1800" u="none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u="sng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7.05</a:t>
                          </a:r>
                          <a:endParaRPr lang="en-IN" sz="1800" u="sng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u="sng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</a:t>
                          </a:r>
                          <a:endParaRPr lang="en-IN" sz="1800" u="sng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u="sng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54.24</a:t>
                          </a:r>
                          <a:endParaRPr lang="en-IN" sz="1800" u="sng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u="sng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81.12</a:t>
                          </a:r>
                          <a:endParaRPr lang="en-IN" sz="1800" u="sng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062341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DenseNet121    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7.18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50.72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83.52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9430173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AlexNet 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31.4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12.96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19.36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40735302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MobileNetV2 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9.23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38.72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71.84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427547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ResNet50 + Attention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7.23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0.941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50.9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81.1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30200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DenseNet121 + Attention    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0.942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53.1</a:t>
                          </a:r>
                          <a:endParaRPr lang="en-IN" sz="1800" kern="10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82.4</a:t>
                          </a:r>
                          <a:endParaRPr lang="en-IN" sz="18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8645683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CF9F6D9-D890-06AB-3427-18F56ADA0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964" y="764622"/>
            <a:ext cx="6943483" cy="275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1" y="1097280"/>
            <a:ext cx="2585784" cy="511601"/>
          </a:xfrm>
        </p:spPr>
        <p:txBody>
          <a:bodyPr anchor="t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011680"/>
            <a:ext cx="5158515" cy="4288420"/>
          </a:xfrm>
        </p:spPr>
        <p:txBody>
          <a:bodyPr vert="horz" lIns="91440" tIns="45720" rIns="91440" bIns="45720" rtlCol="0" anchorCtr="0">
            <a:normAutofit/>
          </a:bodyPr>
          <a:lstStyle/>
          <a:p>
            <a:r>
              <a:rPr lang="en-US" dirty="0"/>
              <a:t>ResNet50 identified as the best-performing model</a:t>
            </a:r>
          </a:p>
          <a:p>
            <a:r>
              <a:rPr lang="en-US" dirty="0"/>
              <a:t>Optimized using 5-fold cross-validation and hyperparameter tuning</a:t>
            </a:r>
          </a:p>
          <a:p>
            <a:r>
              <a:rPr lang="en-US" dirty="0"/>
              <a:t>Best parameters: learning rate = 0.0005, batch size = 32, epochs = 20</a:t>
            </a:r>
          </a:p>
          <a:p>
            <a:r>
              <a:rPr lang="en-US" dirty="0"/>
              <a:t>Evaluated on unseen test data:</a:t>
            </a:r>
          </a:p>
          <a:p>
            <a:pPr marL="0" indent="0">
              <a:buNone/>
            </a:pPr>
            <a:r>
              <a:rPr lang="en-US" dirty="0"/>
              <a:t>	MAE: 9.68 months</a:t>
            </a:r>
          </a:p>
          <a:p>
            <a:pPr marL="0" indent="0">
              <a:buNone/>
            </a:pPr>
            <a:r>
              <a:rPr lang="en-US" dirty="0"/>
              <a:t>	R² Score: 87.3%</a:t>
            </a:r>
          </a:p>
          <a:p>
            <a:pPr marL="0" indent="0">
              <a:buNone/>
            </a:pPr>
            <a:r>
              <a:rPr lang="en-US" dirty="0"/>
              <a:t>	Accuracy within ±6 months: 42.2%</a:t>
            </a:r>
          </a:p>
          <a:p>
            <a:pPr marL="0" indent="0">
              <a:buNone/>
            </a:pPr>
            <a:r>
              <a:rPr lang="en-US" dirty="0"/>
              <a:t>	Accuracy within ±12 months: 71.2%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4F680E08-9F72-B926-DE6C-6E1D9941D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886" y="1761820"/>
            <a:ext cx="4663440" cy="33343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B313-29F0-D93B-A880-E29353A9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D910-A2E5-B370-27F2-8F664E1D7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>
            <a:normAutofit/>
          </a:bodyPr>
          <a:lstStyle/>
          <a:p>
            <a:r>
              <a:rPr lang="en-US" dirty="0"/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BEFFE-C251-B64C-593E-C0B46896D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166833"/>
          </a:xfrm>
        </p:spPr>
        <p:txBody>
          <a:bodyPr vert="horz" lIns="91440" tIns="45720" rIns="91440" bIns="45720" rtlCol="0" anchorCtr="0">
            <a:normAutofit/>
          </a:bodyPr>
          <a:lstStyle/>
          <a:p>
            <a:r>
              <a:rPr lang="en-US" dirty="0"/>
              <a:t>Developed using Stream-lit for rapid, low-code deployment</a:t>
            </a:r>
          </a:p>
          <a:p>
            <a:r>
              <a:rPr lang="en-US" dirty="0"/>
              <a:t>Allows X-ray upload and metadata entry</a:t>
            </a:r>
          </a:p>
          <a:p>
            <a:r>
              <a:rPr lang="en-US" dirty="0"/>
              <a:t>Displays original &amp; preprocessed images</a:t>
            </a:r>
          </a:p>
          <a:p>
            <a:r>
              <a:rPr lang="en-US" dirty="0"/>
              <a:t>Shows predicted bone age in few mins</a:t>
            </a:r>
          </a:p>
          <a:p>
            <a:r>
              <a:rPr lang="en-US" dirty="0"/>
              <a:t>Generates downloadable PDF reports</a:t>
            </a:r>
          </a:p>
          <a:p>
            <a:r>
              <a:rPr lang="en-US" dirty="0"/>
              <a:t>Designed for ease of use and potential clinical application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8" descr="A screenshot of a medical form&#10;&#10;AI-generated content may be incorrect.">
            <a:extLst>
              <a:ext uri="{FF2B5EF4-FFF2-40B4-BE49-F238E27FC236}">
                <a16:creationId xmlns:a16="http://schemas.microsoft.com/office/drawing/2014/main" id="{7B4EFD39-E56D-DA0F-AF10-FCDB499F6B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2573" y="584521"/>
            <a:ext cx="4736562" cy="4959752"/>
          </a:xfr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801D34-C29D-0104-173B-8B1FC9A19B22}"/>
              </a:ext>
            </a:extLst>
          </p:cNvPr>
          <p:cNvSpPr txBox="1"/>
          <p:nvPr/>
        </p:nvSpPr>
        <p:spPr>
          <a:xfrm>
            <a:off x="1180618" y="5910033"/>
            <a:ext cx="9294470" cy="651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Upload X-ray + Metadata → Preprocessing → Prediction (ResNet50) → Display Results → PDF 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710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  <a:noFill/>
        </p:spPr>
        <p:txBody>
          <a:bodyPr anchor="t" anchorCtr="0"/>
          <a:lstStyle/>
          <a:p>
            <a:r>
              <a:rPr lang="en-US" dirty="0"/>
              <a:t>Conclusion&amp;</a:t>
            </a:r>
            <a:br>
              <a:rPr lang="en-US" dirty="0"/>
            </a:br>
            <a:r>
              <a:rPr lang="en-US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6558" y="2159501"/>
            <a:ext cx="9982200" cy="4193623"/>
          </a:xfrm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Manual bone age assessment is slow and error-prone.</a:t>
            </a:r>
          </a:p>
          <a:p>
            <a:pPr algn="just"/>
            <a:r>
              <a:rPr lang="en-US" dirty="0"/>
              <a:t>Deep learning method avoid the need of manual feature engineering.</a:t>
            </a:r>
          </a:p>
          <a:p>
            <a:pPr algn="just"/>
            <a:r>
              <a:rPr lang="en-US" dirty="0"/>
              <a:t>ResNet50 (tuned) performed well on unseen data, with gender-aware attention improving focus on key regions giving accuracy of 87%.</a:t>
            </a:r>
          </a:p>
          <a:p>
            <a:pPr algn="just"/>
            <a:r>
              <a:rPr lang="en-US" dirty="0" err="1"/>
              <a:t>Streamlit</a:t>
            </a:r>
            <a:r>
              <a:rPr lang="en-US" dirty="0"/>
              <a:t> GUI enabled fast predictions, visualizations, and PDF reports.</a:t>
            </a:r>
          </a:p>
          <a:p>
            <a:pPr algn="just"/>
            <a:r>
              <a:rPr lang="en-US" dirty="0"/>
              <a:t>Deep learning is helpful but still requires cross-checking with doctors.</a:t>
            </a:r>
          </a:p>
          <a:p>
            <a:pPr algn="just"/>
            <a:r>
              <a:rPr lang="en-US" dirty="0"/>
              <a:t>Future Scope: Advanced hyperparameter tuning and larger datasets for better performance.</a:t>
            </a:r>
          </a:p>
          <a:p>
            <a:pPr algn="just"/>
            <a:r>
              <a:rPr lang="en-US" dirty="0"/>
              <a:t>Explore ensemble and transformer models, plus quality checks and anomaly detection.</a:t>
            </a:r>
          </a:p>
          <a:p>
            <a:pPr algn="just"/>
            <a:r>
              <a:rPr lang="en-US" dirty="0"/>
              <a:t>Collaborate with radiologists for real-world validation.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80" y="3849073"/>
            <a:ext cx="10318839" cy="187287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35641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Ruchi Rathod | 24801180 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{45E3B45A-A95B-40B6-A0CE-71B9B1236CE3}tf67061901_win32</Template>
  <TotalTime>3033</TotalTime>
  <Words>546</Words>
  <Application>Microsoft Office PowerPoint</Application>
  <PresentationFormat>Widescreen</PresentationFormat>
  <Paragraphs>96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Courier New</vt:lpstr>
      <vt:lpstr>Daytona Condensed Light</vt:lpstr>
      <vt:lpstr>Posterama</vt:lpstr>
      <vt:lpstr>Custom</vt:lpstr>
      <vt:lpstr>Pediatric Bone Age Prediction</vt:lpstr>
      <vt:lpstr>background</vt:lpstr>
      <vt:lpstr>Aim &amp; Objectives</vt:lpstr>
      <vt:lpstr>Data</vt:lpstr>
      <vt:lpstr>Method </vt:lpstr>
      <vt:lpstr>Results</vt:lpstr>
      <vt:lpstr>Results</vt:lpstr>
      <vt:lpstr>User Interface</vt:lpstr>
      <vt:lpstr>Conclusion&amp; Future Scope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 Suresh Rathod</dc:creator>
  <cp:lastModifiedBy>Ruchi Suresh Rathod</cp:lastModifiedBy>
  <cp:revision>23</cp:revision>
  <dcterms:created xsi:type="dcterms:W3CDTF">2025-09-17T17:33:46Z</dcterms:created>
  <dcterms:modified xsi:type="dcterms:W3CDTF">2025-09-21T15:13:46Z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